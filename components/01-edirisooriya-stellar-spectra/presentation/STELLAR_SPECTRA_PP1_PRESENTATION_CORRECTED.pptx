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00" tIns="164592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SHAP-Driven Feature Discovery in Stellar Spectra</a:t>
            </a:r>
          </a:p>
          <a:p>
            <a:pPr>
              <a:spcAft>
                <a:spcPts val="2000"/>
              </a:spcAft>
              <a:defRPr sz="1800">
                <a:solidFill>
                  <a:srgbClr val="E67E22"/>
                </a:solidFill>
              </a:defRPr>
            </a:pPr>
            <a:r>
              <a:t>Module 1: Explainable AI &amp; Exploratory Spectral-Line Alignment in SDSS APOGEE DR17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Researcher: P.K. Edirisooriya (Student ID: IT23330696)</a:t>
            </a:r>
            <a:br/>
            <a:r>
              <a:t>Project ID: J26-IT-449 | IT4010 Research Project — Progress Presentation 1 (PP1)</a:t>
            </a:r>
            <a:br/>
            <a:r>
              <a:t>SLIIT School of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Research Problem &amp; Literature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The Astrophysical Problem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Wide-field spectroscopic surveys capture millions of stellar spectra.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Deep neural networks achieve high classification accuracy on spectra.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Crucial Limitation: Deep neural networks operate as black boxes without physical justification.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Astronomers cannot verify if predictions stem from genuine physical absorption lines or survey artifacts.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Uncertain physical grounding hinders scientific adoption in astrophysics.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The Evaluated Research Gap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Most automated spectral classification papers report only accuracy without explainability.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Existing XAI studies in astronomy rely on qualitative visual plots without quantitative validation.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Absence of baseline-controlled matching against NIST laboratory atomic transitions.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Lack of objective Faithfulness (AOPC) and Stability metrics under survey noise.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Our Contribution: A baseline-controlled XAI evaluation framework testing physical alignment and algorithmic faithfulness.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Research Objectives &amp; Component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Individual Component Scope (Module 1)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Primary Objective: Develop a Gradient SHAP-based interpretable stellar spectroscopy framework identifying influential wavelength regions and evaluating their alignment with NIST atomic lines.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Specific Objective 1: Curate and standardize 1,000 SDSS-IV APOGEE DR17 near-infrared spectra into 4,000-channel arrays (processed cohort supplied; raw FITS archived separately).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Specific Objective 2: Benchmark 1D-CNN-BiLSTM against 1D-ResNet, Standard CNN, and classical baselines on a zero-leakage split.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Specific Objective 3: Formulate the Spectral Line Alignment Score and benchmark against a 1,000-trial Monte Carlo random baseline.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Specific Objective 4: Quantify XAI Faithfulness (AOPC) and Stability (Jaccard similarity under simulated survey noise).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Specific Objective 5: Deploy an interactive 6-page Streamlit research application with genuine per-upload Gradient SHAP inference.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Observational Dataset: SDSS-IV APOGEE DR17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Survey &amp; Cohort Breakdown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Survey: SDSS-IV APOGEE-2 DR17 (Apache Point Observatory 2.5m).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Spectrograph: Cryogenic near-infrared, R ~ 22,500.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Passband: H-band (15,100 to 17,000 Å in rest-frame vacuum).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Catalog Manifest (N = 1,004): K: 649 (64.6%), G: 253 (25.2%), F: 61 (6.1%), A: 25 (2.5%), B: 16 (1.6%).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Active Processed Cohort (N = 1,000): K: 646 (64.6%), G: 252 (25.2%), F: 61 (6.1%), A: 25 (2.5%), B: 16 (1.6%).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Partition Allocation: Train = 700, Validation = 150, Test = 150.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Zero-Leakage Split Class Counts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Train Set (N = 700): K: 452 (64.6%), G: 176 (25.1%), F: 43 (6.1%), A: 17 (2.4%), B: 12 (1.7%).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Validation Set (N = 150): K: 97 (64.7%), G: 38 (25.3%), F: 9 (6.0%), A: 4 (2.7%), B: 2 (1.3%).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 Set (N = 150): K: 97 (64.7%), G: 38 (25.3%), F: 9 (6.0%), A: 4 (2.7%), B: 2 (1.3%).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Pairwise Disjointness: 0 shared 2MASS object IDs across all three splits.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Scientific Disclosure: Labels are effective-temperature proxy classes; infrared surveys naturally sample predominantly cool Galactic stars.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Preprocessing &amp; Spectral Representation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Standardized Preprocessing Engine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Step 1: Vacuum Wavelength Extraction: log10(lambda) = CRVAL1 + CDELT1 * (pixel - (CRPIX1 - 1)) covering 15,100.8 to 16,999.8 Å.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Step 2: Masking &amp; Filtering: Non-positive flux and bad detector pixels masked and interpolated.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Step 3: Uniform Log-Grid Resampling: Raw channels resampled to 4,000 uniform logarithmic points.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Step 4: Spectral Dispersion: Varies smoothly across the band (~0.475 Å/pixel), preserving multi-pixel absorption profiles.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Step 5: Running Median Continuum Normalization: 101-pixel running median filter divides out pseudo-continuum curvature.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Final Representation: Uniform (N, 4000) float32 arrays with continuum centered near 1.0.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Research Integrity: Data Leakage Audit &amp; Fix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Audit Discovery (Historical Split)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 nested indexing bug in legacy 01_data_preprocess.py assigned sub-split indices to master array masks.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Impact: 102 training stars were duplicated into the historical 150-sample test set.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Mathematical Consequence: Historical model achieved an inflated 91.33% accuracy due to data leakage.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Audited &amp; Documented: Historical weights and metrics preserved as historical evidence for transparency.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Corrected Zero-Leakage Benchmark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Partitioned dataset into strictly disjoint astronomical subsets.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Train Set: 700 independent stars.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Validation Set: 150 independent stars.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 Set: 150 independent stars.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Disjointness Verification: Exactly 0 shared 2MASS object identifiers (objid) across all partitions.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All reported benchmarks independently recomputed on this verified clean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6. Deep Learning Architectures Evaluated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1D-CNN-BiLSTM (Proposed)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Hybrid Spectral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Conv1: 1→32 (k=11, s=4, p=5), BN, ReLU, MaxPool(2) → (B, 32, 500)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Conv2: 32→64 (k=7, s=4, p=3), BN, ReLU, MaxPool(2) → (B, 64, 62)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BiLSTM: 1 layer, input=64, hidden=64/direction → (B, 62, 128)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Temporal Pooling: Global max pool over 62 steps → (B, 128)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Head: Linear(128→64) → ReLU → Dropout(0.3) → Linear(64→5)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1D-ResNet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Deep Residual Baseline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Stem Conv: 1→32 (k=7, s=2, p=3), BN, ReLU, MaxPool(2)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3 Residual Blocks: Conv1d with kernel=3 and skip projections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Channels: 32 → 64 → 128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AdaptiveAvgPool1d(1) → Linear(128→5)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Tests deep residual representations on 1D spectral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Standard 1D-CNN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Multi-Layer Conv Baseline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Conv1: 1→32 (kernel 15, padding 7)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Conv2: 32→64 (kernel 7, padding 3)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Conv3: 64→128 (kernel 5, padding 2)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MaxPool1D downsampling after each block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Flatten → Linear(128→64) → Dropout(0.3) → Linear(64→5)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Model Benchmark on Zero-Leakage Test 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Recalculated Benchmark (N = 150 Clean Test)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1D-CNN-BiLSTM (Ours): Acc = 77.33% | Bal-Acc = 74.15% | Macro-F1 = 0.6406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Logistic Regression (L2): Acc = 84.67% | Bal-Acc = 52.39% | Macro-F1 = 0.5368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Random Forest (100 Trees): Acc = 84.00% | Bal-Acc = 56.87% | Macro-F1 = 0.5758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Majority Zero-Rule: Acc = 64.67% | Bal-Acc = 20.00% | Macro-F1 = 0.1571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1D-ResNet: Acc = 46.00% | Bal-Acc = 42.69% | Macro-F1 = 0.3116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Standard 1D-CNN: Acc = 32.00% | Bal-Acc = 29.17% | Macro-F1 = 0.1699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Class Breakdown &amp; Balanced Superiority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Empirical Test Support &amp; F1: K: 78/97 (F1=0.8715), G: 28/38 (F1=0.6667), F: 6/9 (F1=0.5217), A: 2/4 (F1=0.5714), B: 2/2 (F1=0.5714).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Confusion Matrix: [[2,2,0,0,0], [0,2,0,0,0], [0,1,6,2,0], [0,0,6,28,4], [1,0,2,16,78]].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Nominal Accuracy Trap: Classical models reach ~84% accuracy by predicting majority K stars, yielding poor balanced accuracy (52–57%).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CNN-BiLSTM Superiority: Delivers 74.15% Balanced Accuracy and 0.6406 Macro-F1, outperforming all baselines on minority classes.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Minority Note: 100% recall on 2 B-type stars has a wide Wilson CI [34.2%, 100%] and must not be over-generalized.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8. Explainable AI: Gradient SHAP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GradientExplainer Formulation &amp; Implementation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Method: shap.GradientExplainer (Gradient SHAP) applied to the PyTorch CNN-BiLSTM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Methodological Choice: PyTorch recurrent nn.LSTM modules are incompatible with DeepLIFT graph tracing; Gradient SHAP approximates Shapley values via expected gradients.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Background Reference: 30 real stellar spectra drawn from the training partition to model natural continuum variance.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Clean Attribution Tensor: (150, 4000, 5) float32 array — per-star, per-wavelength, per-class importance.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Absolute Average Attribution Score (AAAS): Quantifies feature salience across the 4,000 wavelength channels.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Numerical Integrity: All saved attribution values are strictly finite (0 NaN, 0 Inf).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9. Scientific Atomic-Line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Peak Detection &amp; Matching Setup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Compiled 31 NIR literature atomic lines from NIST and APOGEE survey references (H Brackett, Fe I, Si I, Al I, Mg I, C I, N I, O I).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Detected 57 salient attribution peaks using 85th percentile prominence threshold (minimum distance 15 bins).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Matching window: ±3.5 Å tolerance in rest-frame vacuum wavelength.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Total Matched Peaks: 6 out of 57 detected peaks matched catalog 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Verified Matched Stellar Lines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1. O I (15,870.8 Å): Attribution strength = 0.1338 (Strongest peak)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2. H Brackett-14 (15,263.1 Å): Attribution strength = 0.0309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3. N I (16,767.3 Å): Attribution strength = 0.0215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4. Si I (15,959.0 Å): Attribution strength = 0.0179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5. Mg I (15,742.5 Å): Attribution strength = 0.0173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6. O I (15,570.0 Å): Attribution strength = 0.0172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Observed Alignment Score: 10.53% (6 / 57 peaks matched).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10. Monte Carlo Statistical Significance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Experimental Methodology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Scientific Question: Does 10.53% line alignment exceed random chance?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Simulated 1,000 Monte Carlo trials drawing 57 random peak wavelengths across the 15,100–17,000 Å passband.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Evaluated each trial under identical 3.5 Å matching tolerance.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Computed the empirical null distribution of random alignment scores.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Statistical Result &amp; Honest Qualification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Random Expectation: 10.19% ± 3.94%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Observed Model Score: 10.53% (6 matches)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Empirical p-value: p = 0.5380 (538 of 1,000 random trials matched &gt;= 6 lines)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Statistical Finding: Alignment is not statistically significant above this simple uniform null (p &gt; 0.05).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Scientific Conclusion: The observed narrow atomic-line alignment did not significantly exceed random baseline; additional analysis is required to evaluate broader molecular band or continuum reliance.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11. Objective XAI Faithfulness &amp; Stability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Faithfulness: AOPC Metric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Area Over Perturbation Curve (AOPC) evaluated on 50 correctly classified test stars.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Sequentially masked top-k SHAP channels vs random channels (k up to 1,200 bins).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Top-k AOPC: 0.7507 ± 0.1898 (Rapid confidence drop).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Random AOPC: 0.1192 ± 0.1280 (Minimal degradation).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Faithfulness Advantage: 6.30x advantage over random masking under this controlled perturbation design.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Stability: Jaccard Overlap under Noise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Evaluated attribution consistency under simulated additive Gaussian noise.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High SNR (~100, sigma=0.01): Mean Jaccard overlap = 0.8069 ± 0.0628.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Nominal Survey SNR (~50, sigma=0.02): Mean Jaccard overlap = 0.7768 ± 0.0635.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Low SNR (~25, sigma=0.04): Mean Jaccard overlap = 0.6853 ± 0.0539.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Confirms stability under simulated additive Gaussian noise perturbations.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12. Interactive Streamlit Web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Operational Research Dashboard (app.py)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1: 📊 Dashboard — Dataset manifest distribution (N=1,004), verified KPIs (77.33% Acc, 74.15% Bal-Acc), and 150-sample confusion matrix.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2: 🔬 Upload &amp; Analyse — Live upload of FITS, CSV, NPZ, or NPY spectra; WCS 1-indexed wavelength parsing; training-parity continuum normalization; genuine live per-upload Gradient SHAP attribution (&lt;1.5s latency).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3: 📈 Model Comparison — Clean split benchmark comparing 1D-CNN-BiLSTM vs ResNet, CNN, and classical baselines (RF, LR).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4: ⚛️ Scientific XAI Validation — Interactive tabs for NIST Line Alignment (p=0.538), AOPC Faithfulness (6.30x), Jaccard Stability, and Monte Carlo curves.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5: 🧪 Test Evaluation — Confusion matrix, automated assertion checks, and per-class precision/recall for all 5 classes.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Page 6: 📚 About &amp; Limitations — Full scientific disclosures on proxy labeling, class imbalance, and reproducibility commands.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13. Automated Quality Assurance &amp; Verification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69/69 Passing Automated Assertions (pytest 9.1.1)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TestZeroLeakageDataset (4 tests): Verified 700/150/150 counts, 4000 feature length, exactly 0 sample overlap, all finite values.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TestModelArchitectures (4 tests): Verified forward pass dimensions (B, 5), absence of NaNs, and clean checkpoint loading.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TestDirectRecomputations (3 tests): Verified 77.33% accuracy recomputed directly from model weights on test spectra, pairwise disjoint 2MASS IDs, and clean SHAP tensor shape.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TestScientificLineValidation (3 tests): Verified positive peak detection, alignment score bounds, and Monte Carlo baseline existence.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TestXAIEvaluation (2 tests): Verified positive AOPC score, &gt;1.0x faithfulness advantage, and &gt;=0.70 Jaccard stability at SNR 100.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TestBaselineBenchmarks (2 tests): Verified baseline result existence and CNN-BiLSTM balanced accuracy superiority over classical models.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TestCheckpointDeepCopyAndFormatContracts (3 tests): Deep-copy snapshot isolation test, 4000-bin format contracts, real FITS inference.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TestUploadPreprocessingContracts (6 tests): Rejection of NaN/Inf, length validation, passband overlap checks, pre-normalization validation, and raw count normalization.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TestManifest &amp; Pipeline (42 tests): Verified 100% manifest column integrity, TEFF boundary definitions, and confusion matrix consistency.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100% Pass Rate: 69 passed in 3.44 seconds.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E67E22"/>
                </a:solidFill>
              </a:defRPr>
            </a:pPr>
            <a:r>
              <a:t>IT4010 RESEARCH PROJECT | PP1 ASSESSMENT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14. Conclusion &amp; Post-PP1 Research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PP1 Milestone Deliverables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1,000 verified APOGEE DR17 spectra in clean zero-leakage split.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Historical 102-sample overlap discovered and corrected.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1D-CNN-BiLSTM achieved 77.33% accuracy and 74.15% balanced accuracy.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Formulated Spectral Line Alignment Score (10.53%, p=0.538).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XAI Faithfulness (6.30x AOPC ratio) and Stability (&gt;77.6%) evaluated.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6-page interactive research application with live Gradient SHAP.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69/69 passing automated assertions.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8288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Post-PP1 Roadmap (Towards PP2 &amp; Final)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Phase 1: Synthetic Spectral Augmentation (Turbospectrum / Kurucz models) to expand minority O, B, and A class representation.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Phase 2: Molecular Bandhead Matching: Expand reference list from atomic lines to near-infrared CO and CN ro-vibrational transitions.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Phase 3: Epistemic Uncertainty Quantification via Monte Carlo Dropout and deep evidential learning.</a:t>
            </a:r>
          </a:p>
          <a:p>
            <a:pPr>
              <a:spcAft>
                <a:spcPts val="600"/>
              </a:spcAft>
              <a:defRPr sz="1300">
                <a:solidFill>
                  <a:srgbClr val="282828"/>
                </a:solidFill>
              </a:defRPr>
            </a:pPr>
            <a:r>
              <a:t>• Phase 4: Comparative XAI benchmarking against Integrated Gradients and DeepLIFT.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